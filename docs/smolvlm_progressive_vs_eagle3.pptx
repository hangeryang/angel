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C1917"/>
                </a:solidFill>
                <a:latin typeface="Arial"/>
              </a:rPr>
              <a:t>Speculative Draft: Eagle3 vs Progressive Staged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5652"/>
                </a:solidFill>
                <a:latin typeface="Arial"/>
              </a:rPr>
              <a:t>SmolVLM-256M  ·  3 target aux streams  ·  draft depth =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143000"/>
            <a:ext cx="5532120" cy="5212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2011680" cy="347472"/>
          </a:xfrm>
          <a:prstGeom prst="roundRect">
            <a:avLst>
              <a:gd name="adj" fmla="val 8000"/>
            </a:avLst>
          </a:prstGeom>
          <a:solidFill>
            <a:srgbClr val="2F5D50"/>
          </a:solidFill>
          <a:ln w="12700">
            <a:solidFill>
              <a:srgbClr val="2F5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Stock Eagle3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3533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5652"/>
                </a:solidFill>
                <a:latin typeface="Arial"/>
              </a:rPr>
              <a:t>early fusion once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C5652"/>
                </a:solidFill>
                <a:latin typeface="Arial"/>
              </a:rPr>
              <a:t>Target aux (concat once)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914400" cy="329184"/>
          </a:xfrm>
          <a:prstGeom prst="roundRect">
            <a:avLst>
              <a:gd name="adj" fmla="val 8000"/>
            </a:avLst>
          </a:prstGeom>
          <a:solidFill>
            <a:srgbClr val="3D6B8A"/>
          </a:solidFill>
          <a:ln w="12700">
            <a:solidFill>
              <a:srgbClr val="3D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HS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91639" y="2194560"/>
            <a:ext cx="914400" cy="329184"/>
          </a:xfrm>
          <a:prstGeom prst="roundRect">
            <a:avLst>
              <a:gd name="adj" fmla="val 8000"/>
            </a:avLst>
          </a:prstGeom>
          <a:solidFill>
            <a:srgbClr val="3D6B8A"/>
          </a:solidFill>
          <a:ln w="12700">
            <a:solidFill>
              <a:srgbClr val="3D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HS 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194560"/>
            <a:ext cx="914400" cy="329184"/>
          </a:xfrm>
          <a:prstGeom prst="roundRect">
            <a:avLst>
              <a:gd name="adj" fmla="val 8000"/>
            </a:avLst>
          </a:prstGeom>
          <a:solidFill>
            <a:srgbClr val="3D6B8A"/>
          </a:solidFill>
          <a:ln w="12700">
            <a:solidFill>
              <a:srgbClr val="3D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HS 26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794760" y="2267712"/>
            <a:ext cx="365760" cy="182880"/>
          </a:xfrm>
          <a:prstGeom prst="rightArrow">
            <a:avLst/>
          </a:prstGeom>
          <a:solidFill>
            <a:srgbClr val="5C5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51960" y="2194560"/>
            <a:ext cx="1325880" cy="329184"/>
          </a:xfrm>
          <a:prstGeom prst="roundRect">
            <a:avLst>
              <a:gd name="adj" fmla="val 8000"/>
            </a:avLst>
          </a:prstGeom>
          <a:solidFill>
            <a:srgbClr val="C45C26"/>
          </a:solidFill>
          <a:ln w="1270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fc: 3H → 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C5652"/>
                </a:solidFill>
                <a:latin typeface="Arial"/>
              </a:rPr>
              <a:t>Draft layers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063240"/>
            <a:ext cx="5029200" cy="868680"/>
          </a:xfrm>
          <a:prstGeom prst="roundRect">
            <a:avLst>
              <a:gd name="adj" fmla="val 8000"/>
            </a:avLst>
          </a:prstGeom>
          <a:solidFill>
            <a:srgbClr val="F3F8F6"/>
          </a:solidFill>
          <a:ln w="12700">
            <a:solidFill>
              <a:srgbClr val="2F5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1546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5D50"/>
                </a:solidFill>
                <a:latin typeface="Arial"/>
              </a:rPr>
              <a:t>L0  (Eagle 2H)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4747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  <a:latin typeface="Arial"/>
              </a:rPr>
              <a:t>attn = cat(embed, fused_H)     residual on fused_H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069080"/>
            <a:ext cx="5029200" cy="640080"/>
          </a:xfrm>
          <a:prstGeom prst="roundRect">
            <a:avLst>
              <a:gd name="adj" fmla="val 8000"/>
            </a:avLst>
          </a:prstGeom>
          <a:solidFill>
            <a:srgbClr val="FAF8F5"/>
          </a:solidFill>
          <a:ln w="12700">
            <a:solidFill>
              <a:srgbClr val="D9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16052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917"/>
                </a:solidFill>
                <a:latin typeface="Arial"/>
              </a:rPr>
              <a:t>L1 / L2  (standard H)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43484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652"/>
                </a:solidFill>
                <a:latin typeface="Arial"/>
              </a:rPr>
              <a:t>no re-injection of target 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98348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652"/>
                </a:solidFill>
                <a:latin typeface="Arial"/>
              </a:rPr>
              <a:t>Idea: compress 3 signals early, then refine.
Tradeoff: mid/late HS may be diluted by fc;
later draft layers never see raw aux again.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143000"/>
            <a:ext cx="5532120" cy="5212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92240" y="1325880"/>
            <a:ext cx="3246120" cy="347472"/>
          </a:xfrm>
          <a:prstGeom prst="roundRect">
            <a:avLst>
              <a:gd name="adj" fmla="val 8000"/>
            </a:avLst>
          </a:prstGeom>
          <a:solidFill>
            <a:srgbClr val="C45C26"/>
          </a:solidFill>
          <a:ln w="1270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Progressive Staged (ours)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135331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5652"/>
                </a:solidFill>
                <a:latin typeface="Arial"/>
              </a:rPr>
              <a:t>inject per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187451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C5652"/>
                </a:solidFill>
                <a:latin typeface="Arial"/>
              </a:rPr>
              <a:t>Predecessors → consumer layer weights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2194560"/>
            <a:ext cx="1143000" cy="292608"/>
          </a:xfrm>
          <a:prstGeom prst="roundRect">
            <a:avLst>
              <a:gd name="adj" fmla="val 8000"/>
            </a:avLst>
          </a:prstGeom>
          <a:solidFill>
            <a:srgbClr val="3D6B8A"/>
          </a:solidFill>
          <a:ln w="12700">
            <a:solidFill>
              <a:srgbClr val="3D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HS 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2212848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C5652"/>
                </a:solidFill>
                <a:latin typeface="Arial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79" y="2194560"/>
            <a:ext cx="1143000" cy="292608"/>
          </a:xfrm>
          <a:prstGeom prst="roundRect">
            <a:avLst>
              <a:gd name="adj" fmla="val 8000"/>
            </a:avLst>
          </a:prstGeom>
          <a:solidFill>
            <a:srgbClr val="2F5D50"/>
          </a:solidFill>
          <a:ln w="12700">
            <a:solidFill>
              <a:srgbClr val="2F5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init L1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212848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C5652"/>
                </a:solidFill>
                <a:latin typeface="Arial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64040" y="2194560"/>
            <a:ext cx="1188720" cy="292608"/>
          </a:xfrm>
          <a:prstGeom prst="roundRect">
            <a:avLst>
              <a:gd name="adj" fmla="val 8000"/>
            </a:avLst>
          </a:prstGeom>
          <a:solidFill>
            <a:srgbClr val="C45C26"/>
          </a:solidFill>
          <a:ln w="1270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draft L0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2578608"/>
            <a:ext cx="1143000" cy="292608"/>
          </a:xfrm>
          <a:prstGeom prst="roundRect">
            <a:avLst>
              <a:gd name="adj" fmla="val 8000"/>
            </a:avLst>
          </a:prstGeom>
          <a:solidFill>
            <a:srgbClr val="3D6B8A"/>
          </a:solidFill>
          <a:ln w="12700">
            <a:solidFill>
              <a:srgbClr val="3D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HS 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2596896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C5652"/>
                </a:solidFill>
                <a:latin typeface="Arial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79" y="2578608"/>
            <a:ext cx="1143000" cy="292608"/>
          </a:xfrm>
          <a:prstGeom prst="roundRect">
            <a:avLst>
              <a:gd name="adj" fmla="val 8000"/>
            </a:avLst>
          </a:prstGeom>
          <a:solidFill>
            <a:srgbClr val="2F5D50"/>
          </a:solidFill>
          <a:ln w="12700">
            <a:solidFill>
              <a:srgbClr val="2F5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init L14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2596896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C5652"/>
                </a:solidFill>
                <a:latin typeface="Arial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64040" y="2578608"/>
            <a:ext cx="1188720" cy="292608"/>
          </a:xfrm>
          <a:prstGeom prst="roundRect">
            <a:avLst>
              <a:gd name="adj" fmla="val 8000"/>
            </a:avLst>
          </a:prstGeom>
          <a:solidFill>
            <a:srgbClr val="C45C26"/>
          </a:solidFill>
          <a:ln w="1270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draft L1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92240" y="2962656"/>
            <a:ext cx="1143000" cy="292608"/>
          </a:xfrm>
          <a:prstGeom prst="roundRect">
            <a:avLst>
              <a:gd name="adj" fmla="val 8000"/>
            </a:avLst>
          </a:prstGeom>
          <a:solidFill>
            <a:srgbClr val="3D6B8A"/>
          </a:solidFill>
          <a:ln w="12700">
            <a:solidFill>
              <a:srgbClr val="3D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HS 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2980944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C5652"/>
                </a:solidFill>
                <a:latin typeface="Arial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55279" y="2962656"/>
            <a:ext cx="1143000" cy="292608"/>
          </a:xfrm>
          <a:prstGeom prst="roundRect">
            <a:avLst>
              <a:gd name="adj" fmla="val 8000"/>
            </a:avLst>
          </a:prstGeom>
          <a:solidFill>
            <a:srgbClr val="2F5D50"/>
          </a:solidFill>
          <a:ln w="12700">
            <a:solidFill>
              <a:srgbClr val="2F5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init L26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20" y="2980944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C5652"/>
                </a:solidFill>
                <a:latin typeface="Arial"/>
              </a:rP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64040" y="2962656"/>
            <a:ext cx="1188720" cy="292608"/>
          </a:xfrm>
          <a:prstGeom prst="roundRect">
            <a:avLst>
              <a:gd name="adj" fmla="val 8000"/>
            </a:avLst>
          </a:prstGeom>
          <a:solidFill>
            <a:srgbClr val="C45C26"/>
          </a:solidFill>
          <a:ln w="1270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draft L2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3429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C5652"/>
                </a:solidFill>
                <a:latin typeface="Arial"/>
              </a:rPr>
              <a:t>Draft layers (all Eagle-style 2H)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92240" y="3749039"/>
            <a:ext cx="5029200" cy="384048"/>
          </a:xfrm>
          <a:prstGeom prst="roundRect">
            <a:avLst>
              <a:gd name="adj" fmla="val 8000"/>
            </a:avLst>
          </a:prstGeom>
          <a:solidFill>
            <a:srgbClr val="FDF6F0"/>
          </a:solidFill>
          <a:ln w="1270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29400" y="380390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Arial"/>
              </a:rPr>
              <a:t>L0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0" y="3803903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  <a:latin typeface="Arial"/>
              </a:rPr>
              <a:t>cat(embed, HS0)   residual = HS0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92240" y="4187952"/>
            <a:ext cx="5029200" cy="384048"/>
          </a:xfrm>
          <a:prstGeom prst="roundRect">
            <a:avLst>
              <a:gd name="adj" fmla="val 8000"/>
            </a:avLst>
          </a:prstGeom>
          <a:solidFill>
            <a:srgbClr val="FDF6F0"/>
          </a:solidFill>
          <a:ln w="1270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29400" y="424281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Arial"/>
              </a:rPr>
              <a:t>L1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3760" y="424281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  <a:latin typeface="Arial"/>
              </a:rPr>
              <a:t>cat(h0, HS13)     residual = h0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92240" y="4626864"/>
            <a:ext cx="5029200" cy="384048"/>
          </a:xfrm>
          <a:prstGeom prst="roundRect">
            <a:avLst>
              <a:gd name="adj" fmla="val 8000"/>
            </a:avLst>
          </a:prstGeom>
          <a:solidFill>
            <a:srgbClr val="FDF6F0"/>
          </a:solidFill>
          <a:ln w="1270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29400" y="46817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Arial"/>
              </a:rPr>
              <a:t>L2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23760" y="46817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  <a:latin typeface="Arial"/>
              </a:rPr>
              <a:t>cat(h1, HS25)     residual = h1  →  lm_head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5212080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652"/>
                </a:solidFill>
                <a:latin typeface="Arial"/>
              </a:rPr>
              <a:t>Idea: each draft block reads one target depth.
Weight init aligned: layer 14 sees layer-13-like input.
No early 3H→H bottleneck.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C1917"/>
                </a:solidFill>
                <a:latin typeface="Arial"/>
              </a:rPr>
              <a:t>Progressive Staged Injection — Forward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5652"/>
                </a:solidFill>
                <a:latin typeface="Arial"/>
              </a:rPr>
              <a:t>Frozen SmolVLM target (30 layers)  →  trainable 3-layer Eagle draft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29184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6B8A"/>
                </a:solidFill>
                <a:latin typeface="Arial"/>
              </a:rPr>
              <a:t>Target (frozen)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652"/>
                </a:solidFill>
                <a:latin typeface="Arial"/>
              </a:rPr>
              <a:t>SmolVLM text tower · 30L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D9D2C8"/>
                </a:solidFill>
                <a:latin typeface="Arial"/>
              </a:rPr>
              <a:t>···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560320"/>
            <a:ext cx="2834640" cy="329184"/>
          </a:xfrm>
          <a:prstGeom prst="roundRect">
            <a:avLst>
              <a:gd name="adj" fmla="val 8000"/>
            </a:avLst>
          </a:prstGeom>
          <a:solidFill>
            <a:srgbClr val="3D6B8A"/>
          </a:solidFill>
          <a:ln w="12700">
            <a:solidFill>
              <a:srgbClr val="3D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after L0  →  HS0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89503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5652"/>
                </a:solidFill>
                <a:latin typeface="Arial"/>
              </a:rPr>
              <a:t>inject → draft L0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08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D9D2C8"/>
                </a:solidFill>
                <a:latin typeface="Arial"/>
              </a:rPr>
              <a:t>···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566160"/>
            <a:ext cx="2834640" cy="329184"/>
          </a:xfrm>
          <a:prstGeom prst="roundRect">
            <a:avLst>
              <a:gd name="adj" fmla="val 8000"/>
            </a:avLst>
          </a:prstGeom>
          <a:solidFill>
            <a:srgbClr val="3D6B8A"/>
          </a:solidFill>
          <a:ln w="12700">
            <a:solidFill>
              <a:srgbClr val="3D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after L13 → HS13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9534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5652"/>
                </a:solidFill>
                <a:latin typeface="Arial"/>
              </a:rPr>
              <a:t>inject → draft L1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14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D9D2C8"/>
                </a:solidFill>
                <a:latin typeface="Arial"/>
              </a:rPr>
              <a:t>···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572000"/>
            <a:ext cx="2834640" cy="329184"/>
          </a:xfrm>
          <a:prstGeom prst="roundRect">
            <a:avLst>
              <a:gd name="adj" fmla="val 8000"/>
            </a:avLst>
          </a:prstGeom>
          <a:solidFill>
            <a:srgbClr val="3D6B8A"/>
          </a:solidFill>
          <a:ln w="12700">
            <a:solidFill>
              <a:srgbClr val="3D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after L25 → HS25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90118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5652"/>
                </a:solidFill>
                <a:latin typeface="Arial"/>
              </a:rPr>
              <a:t>inject → draft L2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120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D9D2C8"/>
                </a:solidFill>
                <a:latin typeface="Arial"/>
              </a:rPr>
              <a:t>···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886200" y="2240280"/>
            <a:ext cx="502920" cy="201168"/>
          </a:xfrm>
          <a:prstGeom prst="rightArrow">
            <a:avLst/>
          </a:prstGeom>
          <a:solidFill>
            <a:srgbClr val="3D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3886200" y="3246120"/>
            <a:ext cx="502920" cy="201168"/>
          </a:xfrm>
          <a:prstGeom prst="rightArrow">
            <a:avLst/>
          </a:prstGeom>
          <a:solidFill>
            <a:srgbClr val="3D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3886200" y="4251960"/>
            <a:ext cx="502920" cy="201168"/>
          </a:xfrm>
          <a:prstGeom prst="rightArrow">
            <a:avLst/>
          </a:prstGeom>
          <a:solidFill>
            <a:srgbClr val="3D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0" y="1188720"/>
            <a:ext cx="457200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13258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5C26"/>
                </a:solidFill>
                <a:latin typeface="Arial"/>
              </a:rPr>
              <a:t>Draft (trainable)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169164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652"/>
                </a:solidFill>
                <a:latin typeface="Arial"/>
              </a:rPr>
              <a:t>progressive_staged · no fc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00600" y="2057400"/>
            <a:ext cx="4114800" cy="1051560"/>
          </a:xfrm>
          <a:prstGeom prst="roundRect">
            <a:avLst>
              <a:gd name="adj" fmla="val 8000"/>
            </a:avLst>
          </a:prstGeom>
          <a:solidFill>
            <a:srgbClr val="FDF6F0"/>
          </a:solidFill>
          <a:ln w="1270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0" y="21305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5C26"/>
                </a:solidFill>
                <a:latin typeface="Arial"/>
              </a:rPr>
              <a:t>Draft L0 · weights from target L1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242316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  <a:latin typeface="Arial"/>
              </a:rPr>
              <a:t>left: embed (from L0)
right / residual: HS0  →  h0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00600" y="3246120"/>
            <a:ext cx="4114800" cy="1051560"/>
          </a:xfrm>
          <a:prstGeom prst="roundRect">
            <a:avLst>
              <a:gd name="adj" fmla="val 8000"/>
            </a:avLst>
          </a:prstGeom>
          <a:solidFill>
            <a:srgbClr val="FDF6F0"/>
          </a:solidFill>
          <a:ln w="1270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7760" y="331927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5C26"/>
                </a:solidFill>
                <a:latin typeface="Arial"/>
              </a:rPr>
              <a:t>Draft L1 · weights from target L14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3611879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  <a:latin typeface="Arial"/>
              </a:rPr>
              <a:t>left: h0 (left half ← L13)
right: HS13 · residual h0  →  h1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00600" y="4434840"/>
            <a:ext cx="4114800" cy="1051560"/>
          </a:xfrm>
          <a:prstGeom prst="roundRect">
            <a:avLst>
              <a:gd name="adj" fmla="val 8000"/>
            </a:avLst>
          </a:prstGeom>
          <a:solidFill>
            <a:srgbClr val="FDF6F0"/>
          </a:solidFill>
          <a:ln w="1270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0" y="450799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5C26"/>
                </a:solidFill>
                <a:latin typeface="Arial"/>
              </a:rPr>
              <a:t>Draft L2 · weights from target L26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480060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  <a:latin typeface="Arial"/>
              </a:rPr>
              <a:t>left: h1 (left half ← L25)
right: HS25 · residual h1  →  h2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18320" y="1188720"/>
            <a:ext cx="233172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55480" y="132588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1917"/>
                </a:solidFill>
                <a:latin typeface="Arial"/>
              </a:rPr>
              <a:t>Output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9098280" y="3246120"/>
            <a:ext cx="320040" cy="182880"/>
          </a:xfrm>
          <a:prstGeom prst="rightArrow">
            <a:avLst/>
          </a:prstGeom>
          <a:solidFill>
            <a:srgbClr val="5C5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601200" y="3108960"/>
            <a:ext cx="1965960" cy="457200"/>
          </a:xfrm>
          <a:prstGeom prst="roundRect">
            <a:avLst>
              <a:gd name="adj" fmla="val 8000"/>
            </a:avLst>
          </a:prstGeom>
          <a:solidFill>
            <a:srgbClr val="C45C26"/>
          </a:solidFill>
          <a:ln w="1270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2540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lm_head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5480" y="3794760"/>
            <a:ext cx="2057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C5652"/>
                </a:solidFill>
                <a:latin typeface="Arial"/>
              </a:rPr>
              <a:t>draft logits
over 32k vocab
CE vs target
soft labels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C1917"/>
                </a:solidFill>
                <a:latin typeface="Arial"/>
              </a:rPr>
              <a:t>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1115568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194560" cy="365760"/>
          </a:xfrm>
          <a:prstGeom prst="roundRect">
            <a:avLst>
              <a:gd name="adj" fmla="val 8000"/>
            </a:avLst>
          </a:prstGeom>
          <a:solidFill>
            <a:srgbClr val="5C5652"/>
          </a:solidFill>
          <a:ln w="12700">
            <a:solidFill>
              <a:srgbClr val="5C5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Axis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1280160"/>
            <a:ext cx="4023360" cy="365760"/>
          </a:xfrm>
          <a:prstGeom prst="roundRect">
            <a:avLst>
              <a:gd name="adj" fmla="val 8000"/>
            </a:avLst>
          </a:prstGeom>
          <a:solidFill>
            <a:srgbClr val="2F5D50"/>
          </a:solidFill>
          <a:ln w="12700">
            <a:solidFill>
              <a:srgbClr val="2F5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Stock Eagle3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280160"/>
            <a:ext cx="4023360" cy="365760"/>
          </a:xfrm>
          <a:prstGeom prst="roundRect">
            <a:avLst>
              <a:gd name="adj" fmla="val 8000"/>
            </a:avLst>
          </a:prstGeom>
          <a:solidFill>
            <a:srgbClr val="C45C26"/>
          </a:solidFill>
          <a:ln w="1270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Progressive Staged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917"/>
                </a:solidFill>
                <a:latin typeface="Arial"/>
              </a:rPr>
              <a:t>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874519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5652"/>
                </a:solidFill>
                <a:latin typeface="Arial"/>
              </a:rPr>
              <a:t>Eagle3: one fc(3H→H)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1874519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917"/>
                </a:solidFill>
                <a:latin typeface="Arial"/>
              </a:rPr>
              <a:t>Progressive: none — keep 3 streams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3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917"/>
                </a:solidFill>
                <a:latin typeface="Arial"/>
              </a:rPr>
              <a:t>Where HS enters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606039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5652"/>
                </a:solidFill>
                <a:latin typeface="Arial"/>
              </a:rPr>
              <a:t>Only draft L0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606039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917"/>
                </a:solidFill>
                <a:latin typeface="Arial"/>
              </a:rPr>
              <a:t>Every draft layer (0 / 1 / 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375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917"/>
                </a:solidFill>
                <a:latin typeface="Arial"/>
              </a:rPr>
              <a:t>Later draft layers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333756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5652"/>
                </a:solidFill>
                <a:latin typeface="Arial"/>
              </a:rPr>
              <a:t>Plain H refine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333756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917"/>
                </a:solidFill>
                <a:latin typeface="Arial"/>
              </a:rPr>
              <a:t>2H Eagle + fresh target depth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06908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917"/>
                </a:solidFill>
                <a:latin typeface="Arial"/>
              </a:rPr>
              <a:t>Weight 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406908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5652"/>
                </a:solidFill>
                <a:latin typeface="Arial"/>
              </a:rPr>
              <a:t>L0 from mid layer; L1+ full copy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406908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917"/>
                </a:solidFill>
                <a:latin typeface="Arial"/>
              </a:rPr>
              <a:t>Consumer L_k ← inject predecessor L_{k-1}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8006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917"/>
                </a:solidFill>
                <a:latin typeface="Arial"/>
              </a:rPr>
              <a:t>Config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480060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5652"/>
                </a:solidFill>
                <a:latin typeface="Arial"/>
              </a:rPr>
              <a:t>fused_fc (default)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480060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917"/>
                </a:solidFill>
                <a:latin typeface="Arial"/>
              </a:rPr>
              <a:t>eagle_aux_injection_mode = progressive_staged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